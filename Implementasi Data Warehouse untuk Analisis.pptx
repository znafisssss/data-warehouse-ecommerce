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League Spartan" charset="1" panose="00000800000000000000"/>
      <p:regular r:id="rId19"/>
    </p:embeddedFont>
    <p:embeddedFont>
      <p:font typeface="Roboto Bold" charset="1" panose="02000000000000000000"/>
      <p:regular r:id="rId20"/>
    </p:embeddedFont>
    <p:embeddedFont>
      <p:font typeface="Poppins" charset="1" panose="00000500000000000000"/>
      <p:regular r:id="rId21"/>
    </p:embeddedFont>
    <p:embeddedFont>
      <p:font typeface="Poppins Bold" charset="1" panose="00000800000000000000"/>
      <p:regular r:id="rId22"/>
    </p:embeddedFont>
    <p:embeddedFont>
      <p:font typeface="Roboto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55800" y="4121372"/>
            <a:ext cx="13875833" cy="199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2"/>
              </a:lnSpc>
            </a:pPr>
            <a:r>
              <a:rPr lang="en-US" b="true" sz="57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ANALISIS TRANSAKSI </a:t>
            </a:r>
          </a:p>
          <a:p>
            <a:pPr algn="ctr">
              <a:lnSpc>
                <a:spcPts val="8072"/>
              </a:lnSpc>
            </a:pPr>
            <a:r>
              <a:rPr lang="en-US" b="true" sz="5766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E-COMMERCE GLOBAL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37945" y="3144688"/>
            <a:ext cx="14511543" cy="913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IMPLEMENTASI DATA WAREHOUSE UNTUK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5800" y="6865469"/>
            <a:ext cx="13875833" cy="79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Zahrotun Nafisah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NIM: 21422008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0583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08848" y="4064164"/>
            <a:ext cx="4908029" cy="80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12"/>
              </a:lnSpc>
            </a:pPr>
            <a:r>
              <a:rPr lang="en-US" b="true" sz="2651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Studi Kasus: </a:t>
            </a:r>
          </a:p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Perusahaan E-Commerce Global.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8848" y="5755262"/>
            <a:ext cx="4908029" cy="145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12"/>
              </a:lnSpc>
            </a:pPr>
            <a:r>
              <a:rPr lang="en-US" b="true" sz="2651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Saat Ini (OLTP</a:t>
            </a:r>
            <a:r>
              <a:rPr lang="en-US" sz="26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): </a:t>
            </a:r>
          </a:p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transaksi mentah dalam format CSV, terpisah-pisah, sulit dianalisis secara historis.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40583" y="4210291"/>
            <a:ext cx="1868266" cy="186826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40583" y="6811982"/>
            <a:ext cx="1868266" cy="186826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908043" y="914400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LATAR BELAKANG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09656" y="1773259"/>
            <a:ext cx="4243380" cy="114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1"/>
              </a:lnSpc>
            </a:pPr>
            <a:r>
              <a:rPr lang="en-US" b="true" sz="33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PERMASALAHAN BISNIS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55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55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5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93666" y="2127495"/>
            <a:ext cx="5948366" cy="96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Sulit memantau tren penjualan bulanan secara cepat.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5937" y="4571685"/>
            <a:ext cx="5948366" cy="1436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Tidak mengetahui kategori produk dan metode pembayaran paling efektif.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5937" y="7227949"/>
            <a:ext cx="5948366" cy="96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Kesulitan melihat sebaran geografis pelanggan.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37458" y="1784533"/>
            <a:ext cx="5185990" cy="7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&amp; SUMBER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9411" y="942975"/>
            <a:ext cx="4842085" cy="77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b="true" sz="45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ARSITEKTUR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7458" y="3544703"/>
            <a:ext cx="5634574" cy="89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6"/>
              </a:lnSpc>
            </a:pPr>
            <a:r>
              <a:rPr lang="en-US" sz="29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Sumber Data: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Kaggle.com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135192" y="763134"/>
            <a:ext cx="4353221" cy="1215588"/>
            <a:chOff x="0" y="0"/>
            <a:chExt cx="5804295" cy="162078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804295" cy="1620784"/>
              <a:chOff x="0" y="0"/>
              <a:chExt cx="1146527" cy="3201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46527" cy="320155"/>
              </a:xfrm>
              <a:custGeom>
                <a:avLst/>
                <a:gdLst/>
                <a:ahLst/>
                <a:cxnLst/>
                <a:rect r="r" b="b" t="t" l="l"/>
                <a:pathLst>
                  <a:path h="320155" w="1146527">
                    <a:moveTo>
                      <a:pt x="44461" y="0"/>
                    </a:moveTo>
                    <a:lnTo>
                      <a:pt x="1102066" y="0"/>
                    </a:lnTo>
                    <a:cubicBezTo>
                      <a:pt x="1113858" y="0"/>
                      <a:pt x="1125167" y="4684"/>
                      <a:pt x="1133505" y="13022"/>
                    </a:cubicBezTo>
                    <a:cubicBezTo>
                      <a:pt x="1141843" y="21360"/>
                      <a:pt x="1146527" y="32669"/>
                      <a:pt x="1146527" y="44461"/>
                    </a:cubicBezTo>
                    <a:lnTo>
                      <a:pt x="1146527" y="275694"/>
                    </a:lnTo>
                    <a:cubicBezTo>
                      <a:pt x="1146527" y="287486"/>
                      <a:pt x="1141843" y="298795"/>
                      <a:pt x="1133505" y="307133"/>
                    </a:cubicBezTo>
                    <a:cubicBezTo>
                      <a:pt x="1125167" y="315471"/>
                      <a:pt x="1113858" y="320155"/>
                      <a:pt x="1102066" y="320155"/>
                    </a:cubicBezTo>
                    <a:lnTo>
                      <a:pt x="44461" y="320155"/>
                    </a:lnTo>
                    <a:cubicBezTo>
                      <a:pt x="19906" y="320155"/>
                      <a:pt x="0" y="300249"/>
                      <a:pt x="0" y="275694"/>
                    </a:cubicBezTo>
                    <a:lnTo>
                      <a:pt x="0" y="44461"/>
                    </a:lnTo>
                    <a:cubicBezTo>
                      <a:pt x="0" y="32669"/>
                      <a:pt x="4684" y="21360"/>
                      <a:pt x="13022" y="13022"/>
                    </a:cubicBezTo>
                    <a:cubicBezTo>
                      <a:pt x="21360" y="4684"/>
                      <a:pt x="32669" y="0"/>
                      <a:pt x="44461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38100" cap="rnd">
                <a:solidFill>
                  <a:srgbClr val="FFED00"/>
                </a:solidFill>
                <a:prstDash val="solid"/>
                <a:round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146527" cy="3677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70597" y="535675"/>
              <a:ext cx="5044100" cy="49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12"/>
                </a:lnSpc>
              </a:pPr>
              <a:r>
                <a:rPr lang="en-US" b="true" sz="215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Sumber Data: CSV Transaksi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35192" y="2953317"/>
            <a:ext cx="4353221" cy="1215588"/>
            <a:chOff x="0" y="0"/>
            <a:chExt cx="5804295" cy="16207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804295" cy="1620784"/>
              <a:chOff x="0" y="0"/>
              <a:chExt cx="1146527" cy="3201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146527" cy="320155"/>
              </a:xfrm>
              <a:custGeom>
                <a:avLst/>
                <a:gdLst/>
                <a:ahLst/>
                <a:cxnLst/>
                <a:rect r="r" b="b" t="t" l="l"/>
                <a:pathLst>
                  <a:path h="320155" w="1146527">
                    <a:moveTo>
                      <a:pt x="44461" y="0"/>
                    </a:moveTo>
                    <a:lnTo>
                      <a:pt x="1102066" y="0"/>
                    </a:lnTo>
                    <a:cubicBezTo>
                      <a:pt x="1113858" y="0"/>
                      <a:pt x="1125167" y="4684"/>
                      <a:pt x="1133505" y="13022"/>
                    </a:cubicBezTo>
                    <a:cubicBezTo>
                      <a:pt x="1141843" y="21360"/>
                      <a:pt x="1146527" y="32669"/>
                      <a:pt x="1146527" y="44461"/>
                    </a:cubicBezTo>
                    <a:lnTo>
                      <a:pt x="1146527" y="275694"/>
                    </a:lnTo>
                    <a:cubicBezTo>
                      <a:pt x="1146527" y="287486"/>
                      <a:pt x="1141843" y="298795"/>
                      <a:pt x="1133505" y="307133"/>
                    </a:cubicBezTo>
                    <a:cubicBezTo>
                      <a:pt x="1125167" y="315471"/>
                      <a:pt x="1113858" y="320155"/>
                      <a:pt x="1102066" y="320155"/>
                    </a:cubicBezTo>
                    <a:lnTo>
                      <a:pt x="44461" y="320155"/>
                    </a:lnTo>
                    <a:cubicBezTo>
                      <a:pt x="19906" y="320155"/>
                      <a:pt x="0" y="300249"/>
                      <a:pt x="0" y="275694"/>
                    </a:cubicBezTo>
                    <a:lnTo>
                      <a:pt x="0" y="44461"/>
                    </a:lnTo>
                    <a:cubicBezTo>
                      <a:pt x="0" y="32669"/>
                      <a:pt x="4684" y="21360"/>
                      <a:pt x="13022" y="13022"/>
                    </a:cubicBezTo>
                    <a:cubicBezTo>
                      <a:pt x="21360" y="4684"/>
                      <a:pt x="32669" y="0"/>
                      <a:pt x="44461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47625" cap="rnd">
                <a:solidFill>
                  <a:srgbClr val="FFED00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146527" cy="3677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570597" y="535675"/>
              <a:ext cx="5044100" cy="49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2"/>
                </a:lnSpc>
              </a:pPr>
              <a:r>
                <a:rPr lang="en-US" b="true" sz="215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ETL: Pentaho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35192" y="5143500"/>
            <a:ext cx="4353221" cy="1215588"/>
            <a:chOff x="0" y="0"/>
            <a:chExt cx="5804295" cy="1620784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804295" cy="1620784"/>
              <a:chOff x="0" y="0"/>
              <a:chExt cx="1146527" cy="32015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46527" cy="320155"/>
              </a:xfrm>
              <a:custGeom>
                <a:avLst/>
                <a:gdLst/>
                <a:ahLst/>
                <a:cxnLst/>
                <a:rect r="r" b="b" t="t" l="l"/>
                <a:pathLst>
                  <a:path h="320155" w="1146527">
                    <a:moveTo>
                      <a:pt x="44461" y="0"/>
                    </a:moveTo>
                    <a:lnTo>
                      <a:pt x="1102066" y="0"/>
                    </a:lnTo>
                    <a:cubicBezTo>
                      <a:pt x="1113858" y="0"/>
                      <a:pt x="1125167" y="4684"/>
                      <a:pt x="1133505" y="13022"/>
                    </a:cubicBezTo>
                    <a:cubicBezTo>
                      <a:pt x="1141843" y="21360"/>
                      <a:pt x="1146527" y="32669"/>
                      <a:pt x="1146527" y="44461"/>
                    </a:cubicBezTo>
                    <a:lnTo>
                      <a:pt x="1146527" y="275694"/>
                    </a:lnTo>
                    <a:cubicBezTo>
                      <a:pt x="1146527" y="287486"/>
                      <a:pt x="1141843" y="298795"/>
                      <a:pt x="1133505" y="307133"/>
                    </a:cubicBezTo>
                    <a:cubicBezTo>
                      <a:pt x="1125167" y="315471"/>
                      <a:pt x="1113858" y="320155"/>
                      <a:pt x="1102066" y="320155"/>
                    </a:cubicBezTo>
                    <a:lnTo>
                      <a:pt x="44461" y="320155"/>
                    </a:lnTo>
                    <a:cubicBezTo>
                      <a:pt x="19906" y="320155"/>
                      <a:pt x="0" y="300249"/>
                      <a:pt x="0" y="275694"/>
                    </a:cubicBezTo>
                    <a:lnTo>
                      <a:pt x="0" y="44461"/>
                    </a:lnTo>
                    <a:cubicBezTo>
                      <a:pt x="0" y="32669"/>
                      <a:pt x="4684" y="21360"/>
                      <a:pt x="13022" y="13022"/>
                    </a:cubicBezTo>
                    <a:cubicBezTo>
                      <a:pt x="21360" y="4684"/>
                      <a:pt x="32669" y="0"/>
                      <a:pt x="44461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47625" cap="rnd">
                <a:solidFill>
                  <a:srgbClr val="FFED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146527" cy="3677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570597" y="535675"/>
              <a:ext cx="5044100" cy="49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2"/>
                </a:lnSpc>
              </a:pPr>
              <a:r>
                <a:rPr lang="en-US" b="true" sz="215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DW Storage: PostgreSQL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135192" y="7330638"/>
            <a:ext cx="4353221" cy="1215588"/>
            <a:chOff x="0" y="0"/>
            <a:chExt cx="5804295" cy="162078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5804295" cy="1620784"/>
              <a:chOff x="0" y="0"/>
              <a:chExt cx="1146527" cy="32015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146527" cy="320155"/>
              </a:xfrm>
              <a:custGeom>
                <a:avLst/>
                <a:gdLst/>
                <a:ahLst/>
                <a:cxnLst/>
                <a:rect r="r" b="b" t="t" l="l"/>
                <a:pathLst>
                  <a:path h="320155" w="1146527">
                    <a:moveTo>
                      <a:pt x="44461" y="0"/>
                    </a:moveTo>
                    <a:lnTo>
                      <a:pt x="1102066" y="0"/>
                    </a:lnTo>
                    <a:cubicBezTo>
                      <a:pt x="1113858" y="0"/>
                      <a:pt x="1125167" y="4684"/>
                      <a:pt x="1133505" y="13022"/>
                    </a:cubicBezTo>
                    <a:cubicBezTo>
                      <a:pt x="1141843" y="21360"/>
                      <a:pt x="1146527" y="32669"/>
                      <a:pt x="1146527" y="44461"/>
                    </a:cubicBezTo>
                    <a:lnTo>
                      <a:pt x="1146527" y="275694"/>
                    </a:lnTo>
                    <a:cubicBezTo>
                      <a:pt x="1146527" y="287486"/>
                      <a:pt x="1141843" y="298795"/>
                      <a:pt x="1133505" y="307133"/>
                    </a:cubicBezTo>
                    <a:cubicBezTo>
                      <a:pt x="1125167" y="315471"/>
                      <a:pt x="1113858" y="320155"/>
                      <a:pt x="1102066" y="320155"/>
                    </a:cubicBezTo>
                    <a:lnTo>
                      <a:pt x="44461" y="320155"/>
                    </a:lnTo>
                    <a:cubicBezTo>
                      <a:pt x="19906" y="320155"/>
                      <a:pt x="0" y="300249"/>
                      <a:pt x="0" y="275694"/>
                    </a:cubicBezTo>
                    <a:lnTo>
                      <a:pt x="0" y="44461"/>
                    </a:lnTo>
                    <a:cubicBezTo>
                      <a:pt x="0" y="32669"/>
                      <a:pt x="4684" y="21360"/>
                      <a:pt x="13022" y="13022"/>
                    </a:cubicBezTo>
                    <a:cubicBezTo>
                      <a:pt x="21360" y="4684"/>
                      <a:pt x="32669" y="0"/>
                      <a:pt x="44461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w="47625" cap="rnd">
                <a:solidFill>
                  <a:srgbClr val="FFED00"/>
                </a:solidFill>
                <a:prstDash val="solid"/>
                <a:round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1146527" cy="3677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570597" y="535675"/>
              <a:ext cx="5044100" cy="492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2"/>
                </a:lnSpc>
              </a:pPr>
              <a:r>
                <a:rPr lang="en-US" b="true" sz="215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BI/OLAP: Power BI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>
            <a:off x="12311802" y="1978722"/>
            <a:ext cx="0" cy="9323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3" id="33"/>
          <p:cNvSpPr/>
          <p:nvPr/>
        </p:nvSpPr>
        <p:spPr>
          <a:xfrm>
            <a:off x="12311802" y="4211189"/>
            <a:ext cx="0" cy="9323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12292752" y="6359088"/>
            <a:ext cx="0" cy="9323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95293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29700" y="2672519"/>
            <a:ext cx="8455030" cy="5876246"/>
          </a:xfrm>
          <a:custGeom>
            <a:avLst/>
            <a:gdLst/>
            <a:ahLst/>
            <a:cxnLst/>
            <a:rect r="r" b="b" t="t" l="l"/>
            <a:pathLst>
              <a:path h="5876246" w="8455030">
                <a:moveTo>
                  <a:pt x="0" y="0"/>
                </a:moveTo>
                <a:lnTo>
                  <a:pt x="8455030" y="0"/>
                </a:lnTo>
                <a:lnTo>
                  <a:pt x="8455030" y="5876246"/>
                </a:lnTo>
                <a:lnTo>
                  <a:pt x="0" y="587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66675" cap="rnd">
            <a:solidFill>
              <a:srgbClr val="004AAD"/>
            </a:solidFill>
            <a:prstDash val="solid"/>
            <a:round/>
          </a:ln>
        </p:spPr>
      </p:sp>
      <p:sp>
        <p:nvSpPr>
          <p:cNvPr name="TextBox 10" id="10"/>
          <p:cNvSpPr txBox="true"/>
          <p:nvPr/>
        </p:nvSpPr>
        <p:spPr>
          <a:xfrm rot="0">
            <a:off x="12336751" y="3924350"/>
            <a:ext cx="5185990" cy="7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(STAR SCHEMA)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69609" y="2990875"/>
            <a:ext cx="5634574" cy="71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b="true" sz="41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SKEMA DIMENSIONAL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4359" y="5534442"/>
            <a:ext cx="5634574" cy="89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6"/>
              </a:lnSpc>
            </a:pPr>
            <a:r>
              <a:rPr lang="en-US" sz="292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Sumber Data:</a:t>
            </a:r>
          </a:p>
          <a:p>
            <a:pPr algn="ctr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Kaggle.com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90581" y="3405460"/>
            <a:ext cx="8365366" cy="4705518"/>
          </a:xfrm>
          <a:custGeom>
            <a:avLst/>
            <a:gdLst/>
            <a:ahLst/>
            <a:cxnLst/>
            <a:rect r="r" b="b" t="t" l="l"/>
            <a:pathLst>
              <a:path h="4705518" w="8365366">
                <a:moveTo>
                  <a:pt x="0" y="0"/>
                </a:moveTo>
                <a:lnTo>
                  <a:pt x="8365366" y="0"/>
                </a:lnTo>
                <a:lnTo>
                  <a:pt x="8365366" y="4705518"/>
                </a:lnTo>
                <a:lnTo>
                  <a:pt x="0" y="4705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44025" y="3405460"/>
            <a:ext cx="8365366" cy="4705518"/>
          </a:xfrm>
          <a:custGeom>
            <a:avLst/>
            <a:gdLst/>
            <a:ahLst/>
            <a:cxnLst/>
            <a:rect r="r" b="b" t="t" l="l"/>
            <a:pathLst>
              <a:path h="4705518" w="8365366">
                <a:moveTo>
                  <a:pt x="0" y="0"/>
                </a:moveTo>
                <a:lnTo>
                  <a:pt x="8365366" y="0"/>
                </a:lnTo>
                <a:lnTo>
                  <a:pt x="8365366" y="4705518"/>
                </a:lnTo>
                <a:lnTo>
                  <a:pt x="0" y="4705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1884385"/>
            <a:ext cx="18288000" cy="96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TABEL FAKTA &amp; DIMENSI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8107" y="1181100"/>
            <a:ext cx="5871786" cy="8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b="true" sz="5139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PENJELASAN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92426" y="8596753"/>
            <a:ext cx="4161676" cy="53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 CUSTOMER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0215" y="8596753"/>
            <a:ext cx="4161676" cy="53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 PAYMENT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6584" y="3464391"/>
            <a:ext cx="8153360" cy="4586265"/>
          </a:xfrm>
          <a:custGeom>
            <a:avLst/>
            <a:gdLst/>
            <a:ahLst/>
            <a:cxnLst/>
            <a:rect r="r" b="b" t="t" l="l"/>
            <a:pathLst>
              <a:path h="4586265" w="8153360">
                <a:moveTo>
                  <a:pt x="0" y="0"/>
                </a:moveTo>
                <a:lnTo>
                  <a:pt x="8153360" y="0"/>
                </a:lnTo>
                <a:lnTo>
                  <a:pt x="8153360" y="4586265"/>
                </a:lnTo>
                <a:lnTo>
                  <a:pt x="0" y="4586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99540" y="3464391"/>
            <a:ext cx="8153360" cy="4586265"/>
          </a:xfrm>
          <a:custGeom>
            <a:avLst/>
            <a:gdLst/>
            <a:ahLst/>
            <a:cxnLst/>
            <a:rect r="r" b="b" t="t" l="l"/>
            <a:pathLst>
              <a:path h="4586265" w="8153360">
                <a:moveTo>
                  <a:pt x="0" y="0"/>
                </a:moveTo>
                <a:lnTo>
                  <a:pt x="8153360" y="0"/>
                </a:lnTo>
                <a:lnTo>
                  <a:pt x="8153360" y="4586265"/>
                </a:lnTo>
                <a:lnTo>
                  <a:pt x="0" y="4586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2375970"/>
            <a:ext cx="18288000" cy="47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TABEL FAKTA &amp; DIMENSI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08107" y="1181100"/>
            <a:ext cx="5871786" cy="8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b="true" sz="5139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PENJELASAN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92426" y="8596753"/>
            <a:ext cx="4161676" cy="53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 PRODUCT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40215" y="8596753"/>
            <a:ext cx="4161676" cy="53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 TIME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47859" y="4502250"/>
            <a:ext cx="20799627" cy="2006600"/>
            <a:chOff x="0" y="0"/>
            <a:chExt cx="5478091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78091" cy="528487"/>
            </a:xfrm>
            <a:custGeom>
              <a:avLst/>
              <a:gdLst/>
              <a:ahLst/>
              <a:cxnLst/>
              <a:rect r="r" b="b" t="t" l="l"/>
              <a:pathLst>
                <a:path h="528487" w="5478091">
                  <a:moveTo>
                    <a:pt x="18983" y="0"/>
                  </a:moveTo>
                  <a:lnTo>
                    <a:pt x="5459108" y="0"/>
                  </a:lnTo>
                  <a:cubicBezTo>
                    <a:pt x="5469592" y="0"/>
                    <a:pt x="5478091" y="8499"/>
                    <a:pt x="5478091" y="18983"/>
                  </a:cubicBezTo>
                  <a:lnTo>
                    <a:pt x="5478091" y="509504"/>
                  </a:lnTo>
                  <a:cubicBezTo>
                    <a:pt x="5478091" y="519988"/>
                    <a:pt x="5469592" y="528487"/>
                    <a:pt x="5459108" y="528487"/>
                  </a:cubicBezTo>
                  <a:lnTo>
                    <a:pt x="18983" y="528487"/>
                  </a:lnTo>
                  <a:cubicBezTo>
                    <a:pt x="13948" y="528487"/>
                    <a:pt x="9120" y="526487"/>
                    <a:pt x="5560" y="522927"/>
                  </a:cubicBezTo>
                  <a:cubicBezTo>
                    <a:pt x="2000" y="519367"/>
                    <a:pt x="0" y="514539"/>
                    <a:pt x="0" y="509504"/>
                  </a:cubicBezTo>
                  <a:lnTo>
                    <a:pt x="0" y="18983"/>
                  </a:lnTo>
                  <a:cubicBezTo>
                    <a:pt x="0" y="13948"/>
                    <a:pt x="2000" y="9120"/>
                    <a:pt x="5560" y="5560"/>
                  </a:cubicBezTo>
                  <a:cubicBezTo>
                    <a:pt x="9120" y="2000"/>
                    <a:pt x="13948" y="0"/>
                    <a:pt x="1898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478091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40996" y="3339896"/>
            <a:ext cx="11301259" cy="6356958"/>
          </a:xfrm>
          <a:custGeom>
            <a:avLst/>
            <a:gdLst/>
            <a:ahLst/>
            <a:cxnLst/>
            <a:rect r="r" b="b" t="t" l="l"/>
            <a:pathLst>
              <a:path h="6356958" w="11301259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884385"/>
            <a:ext cx="18288000" cy="96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TABEL FAKTA &amp; DIMENSI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08107" y="1181100"/>
            <a:ext cx="5871786" cy="8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4"/>
              </a:lnSpc>
            </a:pPr>
            <a:r>
              <a:rPr lang="en-US" b="true" sz="5139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PENJELASAN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10787" y="9435841"/>
            <a:ext cx="4161676" cy="53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0"/>
              </a:lnSpc>
            </a:pPr>
            <a:r>
              <a:rPr lang="en-US" sz="30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DIMENSI TIME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3274" y="2078080"/>
            <a:ext cx="5308817" cy="1906332"/>
            <a:chOff x="0" y="0"/>
            <a:chExt cx="1398207" cy="5020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8207" cy="502079"/>
            </a:xfrm>
            <a:custGeom>
              <a:avLst/>
              <a:gdLst/>
              <a:ahLst/>
              <a:cxnLst/>
              <a:rect r="r" b="b" t="t" l="l"/>
              <a:pathLst>
                <a:path h="502079" w="1398207">
                  <a:moveTo>
                    <a:pt x="74374" y="0"/>
                  </a:moveTo>
                  <a:lnTo>
                    <a:pt x="1323833" y="0"/>
                  </a:lnTo>
                  <a:cubicBezTo>
                    <a:pt x="1364909" y="0"/>
                    <a:pt x="1398207" y="33298"/>
                    <a:pt x="1398207" y="74374"/>
                  </a:cubicBezTo>
                  <a:lnTo>
                    <a:pt x="1398207" y="427705"/>
                  </a:lnTo>
                  <a:cubicBezTo>
                    <a:pt x="1398207" y="468781"/>
                    <a:pt x="1364909" y="502079"/>
                    <a:pt x="1323833" y="502079"/>
                  </a:cubicBezTo>
                  <a:lnTo>
                    <a:pt x="74374" y="502079"/>
                  </a:lnTo>
                  <a:cubicBezTo>
                    <a:pt x="33298" y="502079"/>
                    <a:pt x="0" y="468781"/>
                    <a:pt x="0" y="427705"/>
                  </a:cubicBezTo>
                  <a:lnTo>
                    <a:pt x="0" y="74374"/>
                  </a:lnTo>
                  <a:cubicBezTo>
                    <a:pt x="0" y="33298"/>
                    <a:pt x="33298" y="0"/>
                    <a:pt x="7437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98207" cy="549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5898349" cy="91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PROSES ETL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5634574" cy="89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SKENARIO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7049" y="2731278"/>
            <a:ext cx="4725087" cy="6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1"/>
              </a:lnSpc>
            </a:pPr>
            <a:r>
              <a:rPr lang="en-US" sz="405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EXTRACT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76081" y="6178445"/>
            <a:ext cx="4251920" cy="228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37551" y="2621351"/>
            <a:ext cx="4650324" cy="9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Membaca data mentah dari CSV.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7551" y="6731837"/>
            <a:ext cx="4650324" cy="180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Memasukkan data ke tabel Dimensi terlebih dahulu, kemudian ke Tabel Fakta di PostgreSQL.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50238" y="4375753"/>
            <a:ext cx="5593763" cy="1802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Cleaning data, memecah tanggal (hari, bulan, tahun), membuat surrogate keys (ID unik) untuk setiap dimensi.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35184" y="6570821"/>
            <a:ext cx="5308817" cy="1906332"/>
            <a:chOff x="0" y="0"/>
            <a:chExt cx="1398207" cy="5020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98207" cy="502079"/>
            </a:xfrm>
            <a:custGeom>
              <a:avLst/>
              <a:gdLst/>
              <a:ahLst/>
              <a:cxnLst/>
              <a:rect r="r" b="b" t="t" l="l"/>
              <a:pathLst>
                <a:path h="502079" w="1398207">
                  <a:moveTo>
                    <a:pt x="74374" y="0"/>
                  </a:moveTo>
                  <a:lnTo>
                    <a:pt x="1323833" y="0"/>
                  </a:lnTo>
                  <a:cubicBezTo>
                    <a:pt x="1364909" y="0"/>
                    <a:pt x="1398207" y="33298"/>
                    <a:pt x="1398207" y="74374"/>
                  </a:cubicBezTo>
                  <a:lnTo>
                    <a:pt x="1398207" y="427705"/>
                  </a:lnTo>
                  <a:cubicBezTo>
                    <a:pt x="1398207" y="468781"/>
                    <a:pt x="1364909" y="502079"/>
                    <a:pt x="1323833" y="502079"/>
                  </a:cubicBezTo>
                  <a:lnTo>
                    <a:pt x="74374" y="502079"/>
                  </a:lnTo>
                  <a:cubicBezTo>
                    <a:pt x="33298" y="502079"/>
                    <a:pt x="0" y="468781"/>
                    <a:pt x="0" y="427705"/>
                  </a:cubicBezTo>
                  <a:lnTo>
                    <a:pt x="0" y="74374"/>
                  </a:lnTo>
                  <a:cubicBezTo>
                    <a:pt x="0" y="33298"/>
                    <a:pt x="33298" y="0"/>
                    <a:pt x="7437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98207" cy="549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27049" y="7142137"/>
            <a:ext cx="4725087" cy="6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1"/>
              </a:lnSpc>
            </a:pPr>
            <a:r>
              <a:rPr lang="en-US" sz="405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LOAD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42102" y="4451953"/>
            <a:ext cx="5308817" cy="1906332"/>
            <a:chOff x="0" y="0"/>
            <a:chExt cx="1398207" cy="5020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8207" cy="502079"/>
            </a:xfrm>
            <a:custGeom>
              <a:avLst/>
              <a:gdLst/>
              <a:ahLst/>
              <a:cxnLst/>
              <a:rect r="r" b="b" t="t" l="l"/>
              <a:pathLst>
                <a:path h="502079" w="1398207">
                  <a:moveTo>
                    <a:pt x="74374" y="0"/>
                  </a:moveTo>
                  <a:lnTo>
                    <a:pt x="1323833" y="0"/>
                  </a:lnTo>
                  <a:cubicBezTo>
                    <a:pt x="1364909" y="0"/>
                    <a:pt x="1398207" y="33298"/>
                    <a:pt x="1398207" y="74374"/>
                  </a:cubicBezTo>
                  <a:lnTo>
                    <a:pt x="1398207" y="427705"/>
                  </a:lnTo>
                  <a:cubicBezTo>
                    <a:pt x="1398207" y="468781"/>
                    <a:pt x="1364909" y="502079"/>
                    <a:pt x="1323833" y="502079"/>
                  </a:cubicBezTo>
                  <a:lnTo>
                    <a:pt x="74374" y="502079"/>
                  </a:lnTo>
                  <a:cubicBezTo>
                    <a:pt x="33298" y="502079"/>
                    <a:pt x="0" y="468781"/>
                    <a:pt x="0" y="427705"/>
                  </a:cubicBezTo>
                  <a:lnTo>
                    <a:pt x="0" y="74374"/>
                  </a:lnTo>
                  <a:cubicBezTo>
                    <a:pt x="0" y="33298"/>
                    <a:pt x="33298" y="0"/>
                    <a:pt x="7437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98207" cy="549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33967" y="5009596"/>
            <a:ext cx="4725087" cy="68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1"/>
              </a:lnSpc>
            </a:pPr>
            <a:r>
              <a:rPr lang="en-US" sz="405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TRANSFORM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9740" y="1080063"/>
            <a:ext cx="10137941" cy="5702592"/>
          </a:xfrm>
          <a:custGeom>
            <a:avLst/>
            <a:gdLst/>
            <a:ahLst/>
            <a:cxnLst/>
            <a:rect r="r" b="b" t="t" l="l"/>
            <a:pathLst>
              <a:path h="5702592" w="10137941">
                <a:moveTo>
                  <a:pt x="0" y="0"/>
                </a:moveTo>
                <a:lnTo>
                  <a:pt x="10137941" y="0"/>
                </a:lnTo>
                <a:lnTo>
                  <a:pt x="10137941" y="5702592"/>
                </a:lnTo>
                <a:lnTo>
                  <a:pt x="0" y="570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66675" cap="rnd">
            <a:solidFill>
              <a:srgbClr val="004AAD"/>
            </a:solidFill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9740" y="6963630"/>
            <a:ext cx="5640931" cy="3173024"/>
          </a:xfrm>
          <a:custGeom>
            <a:avLst/>
            <a:gdLst/>
            <a:ahLst/>
            <a:cxnLst/>
            <a:rect r="r" b="b" t="t" l="l"/>
            <a:pathLst>
              <a:path h="3173024" w="5640931">
                <a:moveTo>
                  <a:pt x="0" y="0"/>
                </a:moveTo>
                <a:lnTo>
                  <a:pt x="5640931" y="0"/>
                </a:lnTo>
                <a:lnTo>
                  <a:pt x="5640931" y="3173023"/>
                </a:lnTo>
                <a:lnTo>
                  <a:pt x="0" y="3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549835" y="6963630"/>
            <a:ext cx="5640931" cy="3173024"/>
          </a:xfrm>
          <a:custGeom>
            <a:avLst/>
            <a:gdLst/>
            <a:ahLst/>
            <a:cxnLst/>
            <a:rect r="r" b="b" t="t" l="l"/>
            <a:pathLst>
              <a:path h="3173024" w="5640931">
                <a:moveTo>
                  <a:pt x="0" y="0"/>
                </a:moveTo>
                <a:lnTo>
                  <a:pt x="5640930" y="0"/>
                </a:lnTo>
                <a:lnTo>
                  <a:pt x="5640930" y="3173023"/>
                </a:lnTo>
                <a:lnTo>
                  <a:pt x="0" y="3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343165" y="6963630"/>
            <a:ext cx="5640931" cy="3173024"/>
          </a:xfrm>
          <a:custGeom>
            <a:avLst/>
            <a:gdLst/>
            <a:ahLst/>
            <a:cxnLst/>
            <a:rect r="r" b="b" t="t" l="l"/>
            <a:pathLst>
              <a:path h="3173024" w="5640931">
                <a:moveTo>
                  <a:pt x="0" y="0"/>
                </a:moveTo>
                <a:lnTo>
                  <a:pt x="5640931" y="0"/>
                </a:lnTo>
                <a:lnTo>
                  <a:pt x="5640931" y="3173023"/>
                </a:lnTo>
                <a:lnTo>
                  <a:pt x="0" y="3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43165" y="3306635"/>
            <a:ext cx="5640931" cy="3173024"/>
          </a:xfrm>
          <a:custGeom>
            <a:avLst/>
            <a:gdLst/>
            <a:ahLst/>
            <a:cxnLst/>
            <a:rect r="r" b="b" t="t" l="l"/>
            <a:pathLst>
              <a:path h="3173024" w="5640931">
                <a:moveTo>
                  <a:pt x="0" y="0"/>
                </a:moveTo>
                <a:lnTo>
                  <a:pt x="5640931" y="0"/>
                </a:lnTo>
                <a:lnTo>
                  <a:pt x="5640931" y="3173023"/>
                </a:lnTo>
                <a:lnTo>
                  <a:pt x="0" y="3173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1982450" y="1681184"/>
            <a:ext cx="4243380" cy="91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E-T-L           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72900" y="933450"/>
            <a:ext cx="4842085" cy="91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2"/>
              </a:lnSpc>
            </a:pPr>
            <a:r>
              <a:rPr lang="en-US" sz="52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IMPLEMENTASI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40894" y="2476085"/>
            <a:ext cx="13186172" cy="7417222"/>
          </a:xfrm>
          <a:custGeom>
            <a:avLst/>
            <a:gdLst/>
            <a:ahLst/>
            <a:cxnLst/>
            <a:rect r="r" b="b" t="t" l="l"/>
            <a:pathLst>
              <a:path h="7417222" w="13186172">
                <a:moveTo>
                  <a:pt x="0" y="0"/>
                </a:moveTo>
                <a:lnTo>
                  <a:pt x="13186171" y="0"/>
                </a:lnTo>
                <a:lnTo>
                  <a:pt x="13186171" y="7417222"/>
                </a:lnTo>
                <a:lnTo>
                  <a:pt x="0" y="7417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57150" cap="sq">
            <a:solidFill>
              <a:srgbClr val="004AAD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133310" y="1252587"/>
            <a:ext cx="6021380" cy="85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1"/>
              </a:lnSpc>
            </a:pPr>
            <a:r>
              <a:rPr lang="en-US" b="true" sz="50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OLAP (POWER BI)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33310" y="430934"/>
            <a:ext cx="6021380" cy="89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7950" y="806450"/>
            <a:ext cx="6294884" cy="8674100"/>
            <a:chOff x="0" y="0"/>
            <a:chExt cx="165791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6294909" cy="91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(HASIL ANALISIS)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6660338" cy="897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INSIGHT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52129"/>
            <a:ext cx="5634574" cy="907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  <a:spcBef>
                <a:spcPct val="0"/>
              </a:spcBef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Insight Utama untuk Pengambilan Keputusan.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862583" y="1606753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862583" y="4210291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862583" y="6811982"/>
            <a:ext cx="1868266" cy="186826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977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77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77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309261" y="1937866"/>
            <a:ext cx="4856091" cy="14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 Produk: </a:t>
            </a:r>
          </a:p>
          <a:p>
            <a:pPr algn="l">
              <a:lnSpc>
                <a:spcPts val="2845"/>
              </a:lnSpc>
              <a:spcBef>
                <a:spcPct val="0"/>
              </a:spcBef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Kategori 'Sports' dan 'Toys' adalah penyumbang omzet terbesar (&gt; 10M gabungan).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09261" y="4502334"/>
            <a:ext cx="4856091" cy="106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Tren Waktu: </a:t>
            </a:r>
          </a:p>
          <a:p>
            <a:pPr algn="l">
              <a:lnSpc>
                <a:spcPts val="2845"/>
              </a:lnSpc>
              <a:spcBef>
                <a:spcPct val="0"/>
              </a:spcBef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Terjadi lonjakan penjualan signifikan di akhir tahun (Bulan 10-12).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09261" y="7186164"/>
            <a:ext cx="4856091" cy="14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Sebaran Pasar: </a:t>
            </a:r>
          </a:p>
          <a:p>
            <a:pPr algn="l">
              <a:lnSpc>
                <a:spcPts val="2845"/>
              </a:lnSpc>
              <a:spcBef>
                <a:spcPct val="0"/>
              </a:spcBef>
            </a:pPr>
            <a:r>
              <a:rPr lang="en-US" sz="20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Basis pelanggan tersebar global, dengan konsentrasi tinggi di Amerika Utara dan Eropa.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044798" y="2733043"/>
            <a:ext cx="3935158" cy="3753414"/>
            <a:chOff x="0" y="0"/>
            <a:chExt cx="6324600" cy="603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3"/>
              <a:stretch>
                <a:fillRect l="-21391" t="0" r="-2139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6692248" cy="91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DAN TREN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23925"/>
            <a:ext cx="7016098" cy="838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KEAMANAN, KUALITAS,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71179"/>
            <a:ext cx="5634574" cy="1117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Kualitas Data: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Ditangani di ETL (hapus duplikat, standardisasi format).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65079"/>
            <a:ext cx="5634574" cy="1488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Keamanan: 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(Konseptual) Penerapan Role-Based Access Control di database PostgreSQL dan Row-Level Security di Power BI.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44798" y="7639321"/>
            <a:ext cx="8292942" cy="1488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1"/>
              </a:lnSpc>
            </a:pPr>
            <a:r>
              <a:rPr lang="en-US" sz="2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Tren Terkini: </a:t>
            </a:r>
          </a:p>
          <a:p>
            <a:pPr algn="l">
              <a:lnSpc>
                <a:spcPts val="2981"/>
              </a:lnSpc>
              <a:spcBef>
                <a:spcPct val="0"/>
              </a:spcBef>
            </a:pPr>
            <a:r>
              <a:rPr lang="en-US" sz="21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ini siap dimigrasikan ke Cloud DW (misal: Snowflake/Redshift) dan datanya siap digunakan untuk Data Mining (misal: prediksi churn pelanggan).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782969" y="2733043"/>
            <a:ext cx="3935158" cy="3753414"/>
            <a:chOff x="0" y="0"/>
            <a:chExt cx="6324600" cy="6032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3"/>
              <a:stretch>
                <a:fillRect l="-21391" t="0" r="-21391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47826" y="6846823"/>
            <a:ext cx="3592349" cy="5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09363" y="8688897"/>
            <a:ext cx="759903" cy="759903"/>
          </a:xfrm>
          <a:custGeom>
            <a:avLst/>
            <a:gdLst/>
            <a:ahLst/>
            <a:cxnLst/>
            <a:rect r="r" b="b" t="t" l="l"/>
            <a:pathLst>
              <a:path h="759903" w="759903">
                <a:moveTo>
                  <a:pt x="0" y="0"/>
                </a:moveTo>
                <a:lnTo>
                  <a:pt x="759903" y="0"/>
                </a:lnTo>
                <a:lnTo>
                  <a:pt x="759903" y="759903"/>
                </a:lnTo>
                <a:lnTo>
                  <a:pt x="0" y="75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5697" y="8659101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3" y="0"/>
                </a:lnTo>
                <a:lnTo>
                  <a:pt x="762323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68070" y="8716674"/>
            <a:ext cx="6847518" cy="57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21422008.student@unusida.ac.id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2475" y="8762274"/>
            <a:ext cx="350034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+123-456-7890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DAG_EQCiAI8</dc:identifier>
  <dcterms:modified xsi:type="dcterms:W3CDTF">2011-08-01T06:04:30Z</dcterms:modified>
  <cp:revision>1</cp:revision>
  <dc:title>Implementasi Data Warehouse untuk Analisis</dc:title>
</cp:coreProperties>
</file>